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Roboto Slab" pitchFamily="34" charset="0"/>
      <p:bold r:id="rId17"/>
    </p:embeddedFont>
    <p:embeddedFont>
      <p:font typeface="Roboto Slab" pitchFamily="34" charset="-122"/>
      <p:bold r:id="rId18"/>
    </p:embeddedFont>
    <p:embeddedFont>
      <p:font typeface="Roboto Slab" pitchFamily="34" charset="-120"/>
      <p:bold r:id="rId19"/>
    </p:embeddedFont>
    <p:embeddedFont>
      <p:font typeface="Roboto" panose="02000000000000000000" pitchFamily="34" charset="0"/>
      <p:regular r:id="rId20"/>
    </p:embeddedFont>
    <p:embeddedFont>
      <p:font typeface="Roboto" panose="02000000000000000000" pitchFamily="34" charset="-122"/>
      <p:regular r:id="rId21"/>
    </p:embeddedFont>
    <p:embeddedFont>
      <p:font typeface="Roboto" panose="02000000000000000000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65534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Saguaro: 一种边缘计算驱动的分层许可型区块链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23253"/>
            <a:ext cx="75564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Saguaro 是一种为边缘计算环境设计的创新区块链，它能够在分布式设备之间安全高效地进行数据交换和交易处理。这项技术由来自宾夕法尼亚大学、香港中文大学、斯坦福大学和乔治城大学的学者共同研发。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48401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756440" y="5467112"/>
            <a:ext cx="2497217" cy="3968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作者：</a:t>
            </a:r>
            <a:r>
              <a:rPr lang="zh-CN" altLang="en-US" sz="2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李国泽</a:t>
            </a:r>
            <a:endParaRPr lang="zh-CN" altLang="en-US" sz="2200" b="1" dirty="0">
              <a:solidFill>
                <a:srgbClr val="15213F"/>
              </a:solidFill>
              <a:latin typeface="Roboto Bold" pitchFamily="34" charset="0"/>
              <a:ea typeface="Roboto Bold" pitchFamily="34" charset="-122"/>
              <a:cs typeface="Roboto Bold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边缘计算的挑战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分布式设备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边缘设备分布广泛，跨多个地理区域进行通信，对数据一致性提出更高要求。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多层架构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边缘服务器、雾计算服务器和云服务器构成多层架构，需要协调不同层级的操作。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设备移动性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边缘设备可能临时离开原域，参与到远程域的操作中，需要支持动态移动性。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118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241" y="3430429"/>
            <a:ext cx="5623798" cy="702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Saguaro 的贡献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87241" y="4723686"/>
            <a:ext cx="506135" cy="506135"/>
          </a:xfrm>
          <a:prstGeom prst="roundRect">
            <a:avLst>
              <a:gd name="adj" fmla="val 6667"/>
            </a:avLst>
          </a:prstGeom>
          <a:solidFill>
            <a:srgbClr val="E9ECF2"/>
          </a:solidFill>
        </p:spPr>
      </p:sp>
      <p:sp>
        <p:nvSpPr>
          <p:cNvPr id="5" name="Text 2"/>
          <p:cNvSpPr/>
          <p:nvPr/>
        </p:nvSpPr>
        <p:spPr>
          <a:xfrm>
            <a:off x="970717" y="4807982"/>
            <a:ext cx="139065" cy="3374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18285" y="4723686"/>
            <a:ext cx="3092172" cy="3514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协调器事务处理共识协议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18285" y="5210056"/>
            <a:ext cx="5684520" cy="7196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使用最近公共祖先域作为排序决策者，保证跨域事务的一致性。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7714" y="4723686"/>
            <a:ext cx="506135" cy="506135"/>
          </a:xfrm>
          <a:prstGeom prst="roundRect">
            <a:avLst>
              <a:gd name="adj" fmla="val 6667"/>
            </a:avLst>
          </a:prstGeom>
          <a:solidFill>
            <a:srgbClr val="E9ECF2"/>
          </a:solidFill>
        </p:spPr>
      </p:sp>
      <p:sp>
        <p:nvSpPr>
          <p:cNvPr id="9" name="Text 6"/>
          <p:cNvSpPr/>
          <p:nvPr/>
        </p:nvSpPr>
        <p:spPr>
          <a:xfrm>
            <a:off x="7587615" y="4807982"/>
            <a:ext cx="186333" cy="3374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8158758" y="4723686"/>
            <a:ext cx="3373279" cy="3514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乐观估计事务处理共识协议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158758" y="5210056"/>
            <a:ext cx="5684520" cy="3598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在低冲突环境下，高效处理跨域事务，减少通信开销。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87241" y="6407587"/>
            <a:ext cx="506135" cy="506135"/>
          </a:xfrm>
          <a:prstGeom prst="roundRect">
            <a:avLst>
              <a:gd name="adj" fmla="val 6667"/>
            </a:avLst>
          </a:prstGeom>
          <a:solidFill>
            <a:srgbClr val="E9ECF2"/>
          </a:solidFill>
        </p:spPr>
      </p:sp>
      <p:sp>
        <p:nvSpPr>
          <p:cNvPr id="13" name="Text 10"/>
          <p:cNvSpPr/>
          <p:nvPr/>
        </p:nvSpPr>
        <p:spPr>
          <a:xfrm>
            <a:off x="949166" y="6491883"/>
            <a:ext cx="182166" cy="3374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18285" y="6407587"/>
            <a:ext cx="2811899" cy="3514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数据聚合协议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18285" y="6893957"/>
            <a:ext cx="5684520" cy="7196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允许高层服务器定期了解事务处理情况，实现数据收集和分析。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427714" y="6407587"/>
            <a:ext cx="506135" cy="506135"/>
          </a:xfrm>
          <a:prstGeom prst="roundRect">
            <a:avLst>
              <a:gd name="adj" fmla="val 6667"/>
            </a:avLst>
          </a:prstGeom>
          <a:solidFill>
            <a:srgbClr val="E9ECF2"/>
          </a:solidFill>
        </p:spPr>
      </p:sp>
      <p:sp>
        <p:nvSpPr>
          <p:cNvPr id="17" name="Text 14"/>
          <p:cNvSpPr/>
          <p:nvPr/>
        </p:nvSpPr>
        <p:spPr>
          <a:xfrm>
            <a:off x="7582972" y="6491883"/>
            <a:ext cx="195501" cy="3374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8158758" y="6407587"/>
            <a:ext cx="2811899" cy="3514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设备管理机制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158758" y="6893957"/>
            <a:ext cx="5684520" cy="3598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支持设备移动，在不同域之间进行状态同步和交易处理。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3643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系统模型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7430" y="2686050"/>
            <a:ext cx="1614011" cy="8079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95976" y="2950369"/>
            <a:ext cx="116800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088255" y="2912864"/>
            <a:ext cx="113359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边缘设备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918115" y="3507105"/>
            <a:ext cx="8861822" cy="15240"/>
          </a:xfrm>
          <a:prstGeom prst="roundRect">
            <a:avLst>
              <a:gd name="adj" fmla="val 223256"/>
            </a:avLst>
          </a:prstGeom>
          <a:solidFill>
            <a:srgbClr val="CFD2D8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424" y="3550682"/>
            <a:ext cx="3228022" cy="8079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76092" y="3727847"/>
            <a:ext cx="156567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895261" y="3777496"/>
            <a:ext cx="141696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边缘服务器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5725120" y="4371737"/>
            <a:ext cx="8054816" cy="15240"/>
          </a:xfrm>
          <a:prstGeom prst="roundRect">
            <a:avLst>
              <a:gd name="adj" fmla="val 223256"/>
            </a:avLst>
          </a:prstGeom>
          <a:solidFill>
            <a:srgbClr val="CFD2D8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418" y="4415314"/>
            <a:ext cx="4842034" cy="8079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77878" y="4592479"/>
            <a:ext cx="153114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6702266" y="4642128"/>
            <a:ext cx="170033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雾计算服务器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6532126" y="5236369"/>
            <a:ext cx="7247811" cy="15240"/>
          </a:xfrm>
          <a:prstGeom prst="roundRect">
            <a:avLst>
              <a:gd name="adj" fmla="val 223256"/>
            </a:avLst>
          </a:prstGeom>
          <a:solidFill>
            <a:srgbClr val="CFD2D8"/>
          </a:solidFill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94" y="5279946"/>
            <a:ext cx="6456164" cy="80795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72163" y="5457111"/>
            <a:ext cx="164306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7509272" y="5506760"/>
            <a:ext cx="113359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云服务器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93790" y="6343055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Saguaro 的网络由分层容错域组成，每个域包含多个节点，每个域可使用不同的容错模型和协议。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21581"/>
            <a:ext cx="680370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基于协调器的跨域共识协议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18711" y="2270522"/>
            <a:ext cx="30480" cy="4737378"/>
          </a:xfrm>
          <a:prstGeom prst="roundRect">
            <a:avLst>
              <a:gd name="adj" fmla="val 111628"/>
            </a:avLst>
          </a:prstGeom>
          <a:solidFill>
            <a:srgbClr val="CFD2D8"/>
          </a:solidFill>
        </p:spPr>
      </p:sp>
      <p:sp>
        <p:nvSpPr>
          <p:cNvPr id="5" name="Shape 2"/>
          <p:cNvSpPr/>
          <p:nvPr/>
        </p:nvSpPr>
        <p:spPr>
          <a:xfrm>
            <a:off x="1358622" y="2765584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</p:spPr>
      </p:sp>
      <p:sp>
        <p:nvSpPr>
          <p:cNvPr id="6" name="Shape 3"/>
          <p:cNvSpPr/>
          <p:nvPr/>
        </p:nvSpPr>
        <p:spPr>
          <a:xfrm>
            <a:off x="878800" y="252567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</p:spPr>
      </p:sp>
      <p:sp>
        <p:nvSpPr>
          <p:cNvPr id="7" name="Text 4"/>
          <p:cNvSpPr/>
          <p:nvPr/>
        </p:nvSpPr>
        <p:spPr>
          <a:xfrm>
            <a:off x="1063823" y="2610683"/>
            <a:ext cx="140256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249733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Prepare 阶段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81488" y="2987754"/>
            <a:ext cx="596872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边缘域主节点将跨域事务转发给 LCA 域，并分配序列号。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58622" y="4299347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</p:spPr>
      </p:sp>
      <p:sp>
        <p:nvSpPr>
          <p:cNvPr id="11" name="Shape 8"/>
          <p:cNvSpPr/>
          <p:nvPr/>
        </p:nvSpPr>
        <p:spPr>
          <a:xfrm>
            <a:off x="878800" y="405943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</p:spPr>
      </p:sp>
      <p:sp>
        <p:nvSpPr>
          <p:cNvPr id="12" name="Text 9"/>
          <p:cNvSpPr/>
          <p:nvPr/>
        </p:nvSpPr>
        <p:spPr>
          <a:xfrm>
            <a:off x="1040011" y="4144447"/>
            <a:ext cx="187881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381488" y="403109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Prepared 阶段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81488" y="4521517"/>
            <a:ext cx="596872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涉及域主节点在域内达成共识，并将结果发送给 LCA 域。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58622" y="5833110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</p:spPr>
      </p:sp>
      <p:sp>
        <p:nvSpPr>
          <p:cNvPr id="16" name="Shape 13"/>
          <p:cNvSpPr/>
          <p:nvPr/>
        </p:nvSpPr>
        <p:spPr>
          <a:xfrm>
            <a:off x="878800" y="559319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</p:spPr>
      </p:sp>
      <p:sp>
        <p:nvSpPr>
          <p:cNvPr id="17" name="Text 14"/>
          <p:cNvSpPr/>
          <p:nvPr/>
        </p:nvSpPr>
        <p:spPr>
          <a:xfrm>
            <a:off x="1042035" y="5678210"/>
            <a:ext cx="183713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381488" y="556486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Commit 阶段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381488" y="6055281"/>
            <a:ext cx="5968722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LCA 域收到所有 Prepared 信息，在域内达成共识，最终生成 Commit 信息。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0739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数据聚合协议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13146"/>
            <a:ext cx="2173724" cy="1306949"/>
          </a:xfrm>
          <a:prstGeom prst="roundRect">
            <a:avLst>
              <a:gd name="adj" fmla="val 2603"/>
            </a:avLst>
          </a:prstGeom>
          <a:solidFill>
            <a:srgbClr val="E9ECF2"/>
          </a:solidFill>
        </p:spPr>
      </p:sp>
      <p:sp>
        <p:nvSpPr>
          <p:cNvPr id="4" name="Text 2"/>
          <p:cNvSpPr/>
          <p:nvPr/>
        </p:nvSpPr>
        <p:spPr>
          <a:xfrm>
            <a:off x="1020604" y="2739866"/>
            <a:ext cx="116800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194328" y="253996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边缘域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94328" y="3030379"/>
            <a:ext cx="340054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将事务打包成区块，并进行共识。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080861" y="3604855"/>
            <a:ext cx="10642402" cy="15240"/>
          </a:xfrm>
          <a:prstGeom prst="roundRect">
            <a:avLst>
              <a:gd name="adj" fmla="val 223256"/>
            </a:avLst>
          </a:prstGeom>
          <a:solidFill>
            <a:srgbClr val="CFD2D8"/>
          </a:solidFill>
        </p:spPr>
      </p:sp>
      <p:sp>
        <p:nvSpPr>
          <p:cNvPr id="8" name="Shape 6"/>
          <p:cNvSpPr/>
          <p:nvPr/>
        </p:nvSpPr>
        <p:spPr>
          <a:xfrm>
            <a:off x="793790" y="3733443"/>
            <a:ext cx="4347567" cy="1306949"/>
          </a:xfrm>
          <a:prstGeom prst="roundRect">
            <a:avLst>
              <a:gd name="adj" fmla="val 2603"/>
            </a:avLst>
          </a:prstGeom>
          <a:solidFill>
            <a:srgbClr val="E9ECF2"/>
          </a:solidFill>
        </p:spPr>
      </p:sp>
      <p:sp>
        <p:nvSpPr>
          <p:cNvPr id="9" name="Text 7"/>
          <p:cNvSpPr/>
          <p:nvPr/>
        </p:nvSpPr>
        <p:spPr>
          <a:xfrm>
            <a:off x="1020604" y="4160163"/>
            <a:ext cx="156567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8171" y="396025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上层域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68171" y="4450675"/>
            <a:ext cx="453401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接收来自子域的区块消息，进行排序和共识。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54704" y="5025152"/>
            <a:ext cx="8468558" cy="15240"/>
          </a:xfrm>
          <a:prstGeom prst="roundRect">
            <a:avLst>
              <a:gd name="adj" fmla="val 223256"/>
            </a:avLst>
          </a:prstGeom>
          <a:solidFill>
            <a:srgbClr val="CFD2D8"/>
          </a:solidFill>
        </p:spPr>
      </p:sp>
      <p:sp>
        <p:nvSpPr>
          <p:cNvPr id="13" name="Shape 11"/>
          <p:cNvSpPr/>
          <p:nvPr/>
        </p:nvSpPr>
        <p:spPr>
          <a:xfrm>
            <a:off x="793790" y="5153739"/>
            <a:ext cx="6521410" cy="1306949"/>
          </a:xfrm>
          <a:prstGeom prst="roundRect">
            <a:avLst>
              <a:gd name="adj" fmla="val 2603"/>
            </a:avLst>
          </a:prstGeom>
          <a:solidFill>
            <a:srgbClr val="E9ECF2"/>
          </a:solidFill>
        </p:spPr>
      </p:sp>
      <p:sp>
        <p:nvSpPr>
          <p:cNvPr id="14" name="Text 12"/>
          <p:cNvSpPr/>
          <p:nvPr/>
        </p:nvSpPr>
        <p:spPr>
          <a:xfrm>
            <a:off x="1020604" y="5580459"/>
            <a:ext cx="153114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42014" y="538055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根域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2014" y="5870972"/>
            <a:ext cx="3400544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包含所有交易，生成最终的账本。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6715839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Saguaro 使用 Lazy 聚合协议，在回合结束时，将区块信息上传至父级域。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66731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乐观估计事务处理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515672"/>
            <a:ext cx="1134070" cy="1814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74248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事务提交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232904"/>
            <a:ext cx="608218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边缘服务器广播事务，每个域自主提交和执行。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330184"/>
            <a:ext cx="1134070" cy="18145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55699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数据聚合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5047417"/>
            <a:ext cx="608218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LCA 域验证事务排序，若不一致则回滚。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793790" y="639984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Saguaro 支持乐观估计提交，在 LCA 域进行最终一致性检查。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75365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移动共识协议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92430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71809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锁位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6208514"/>
            <a:ext cx="635127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跟踪设备移动状态，确保本地状态是最新的。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221" y="4924306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85221" y="571809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remote 变量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485221" y="6208514"/>
            <a:ext cx="635138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记录设备的最新状态，用于状态同步。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793790" y="6826568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Saguaro 通过状态查询和同步，确保设备在不同域之间继续进行交易处理。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5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151" y="499824"/>
            <a:ext cx="4544497" cy="5680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实验结果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36151" y="1431369"/>
            <a:ext cx="7871698" cy="5998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4700" dirty="0"/>
          </a:p>
        </p:txBody>
      </p:sp>
      <p:sp>
        <p:nvSpPr>
          <p:cNvPr id="5" name="Text 2"/>
          <p:cNvSpPr/>
          <p:nvPr/>
        </p:nvSpPr>
        <p:spPr>
          <a:xfrm>
            <a:off x="3435906" y="2258378"/>
            <a:ext cx="2272189" cy="2839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层级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36151" y="2651403"/>
            <a:ext cx="7871698" cy="2908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模拟了一个四层满二叉树边缘计算网络拓扑。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6151" y="3578423"/>
            <a:ext cx="7871698" cy="5998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4700" dirty="0"/>
          </a:p>
        </p:txBody>
      </p:sp>
      <p:sp>
        <p:nvSpPr>
          <p:cNvPr id="8" name="Text 5"/>
          <p:cNvSpPr/>
          <p:nvPr/>
        </p:nvSpPr>
        <p:spPr>
          <a:xfrm>
            <a:off x="3435906" y="4405432"/>
            <a:ext cx="2272189" cy="2839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场景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36151" y="4798457"/>
            <a:ext cx="7871698" cy="2908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跨域事务、移动设备和广域网络。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6151" y="5725477"/>
            <a:ext cx="7871698" cy="5998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4700" dirty="0"/>
          </a:p>
        </p:txBody>
      </p:sp>
      <p:sp>
        <p:nvSpPr>
          <p:cNvPr id="11" name="Text 8"/>
          <p:cNvSpPr/>
          <p:nvPr/>
        </p:nvSpPr>
        <p:spPr>
          <a:xfrm>
            <a:off x="3435906" y="6552486"/>
            <a:ext cx="2272189" cy="2839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结论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36151" y="6945511"/>
            <a:ext cx="7871698" cy="2908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Saguaro 在所有场景下均优于其他协议。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6151" y="7440811"/>
            <a:ext cx="7871698" cy="2908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实验表明，Saguaro 在边缘计算环境中展现出优异的性能和可扩展性。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45976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总结与展望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94917"/>
            <a:ext cx="75564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Saguaro 巧妙利用边缘计算的分布式特性，提供高效可靠的跨域事务处理，并支持设备移动性。未来的研究方向包括提升性能、扩展功能和探索新的应用场景。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1101</Words>
  <Application>WPS 演示</Application>
  <PresentationFormat>On-screen Show (16:9)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Roboto Slab</vt:lpstr>
      <vt:lpstr>Roboto Slab</vt:lpstr>
      <vt:lpstr>Roboto Slab</vt:lpstr>
      <vt:lpstr>Roboto</vt:lpstr>
      <vt:lpstr>Roboto</vt:lpstr>
      <vt:lpstr>Roboto</vt:lpstr>
      <vt:lpstr>Roboto Bold</vt:lpstr>
      <vt:lpstr>Segoe Print</vt:lpstr>
      <vt:lpstr>Roboto Bold</vt:lpstr>
      <vt:lpstr>Roboto Bold</vt:lpstr>
      <vt:lpstr>Calibri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VVolfBite</cp:lastModifiedBy>
  <cp:revision>2</cp:revision>
  <dcterms:created xsi:type="dcterms:W3CDTF">2024-12-12T05:44:00Z</dcterms:created>
  <dcterms:modified xsi:type="dcterms:W3CDTF">2024-12-12T06:09:44Z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5EC0C1A8FA97405689718519DA23FF75_13</vt:lpwstr>
  </property>
  <property fmtid="{D5CDD505-2E9C-101B-9397-08002B2CF9AE}" pid="3" name="KSOProductBuildVer">
    <vt:lpwstr>2052-12.1.0.19302</vt:lpwstr>
  </property>
</Properties>
</file>